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1A73E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F9D58">
              <a:alpha val="20000"/>
            </a:srgbClr>
          </a:solidFill>
          <a:ln w="12700">
            <a:solidFill>
              <a:srgbClr val="0F9D5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82880"/>
            <a:ext cx="1371600" cy="1371600"/>
          </a:xfrm>
          <a:prstGeom prst="ellipse">
            <a:avLst/>
          </a:prstGeom>
          <a:solidFill>
            <a:srgbClr val="EA4335">
              <a:alpha val="30000"/>
            </a:srgbClr>
          </a:solidFill>
          <a:ln w="12700">
            <a:solidFill>
              <a:srgbClr val="EA433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457200"/>
            <a:ext cx="2194560" cy="365760"/>
          </a:xfrm>
          <a:prstGeom prst="rect">
            <a:avLst>
              <a:gd name="adj" fmla="val 125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57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SUBMISSION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Search &amp;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Campaigns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Google Ads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286000" y="3200400"/>
            <a:ext cx="4572000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Digital Marketing Campaign — Complete Project Report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</a:rPr>
              <a:t>Search + Display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Campaign Type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39319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</a:rPr>
              <a:t>25+ Keywords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50592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Keyword Research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39319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</a:rPr>
              <a:t>3 Ad Groups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6864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Ad Groups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39319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</a:rPr>
              <a:t>Optimized Bids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03136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Budget Strategy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73E8">
              <a:alpha val="40000"/>
            </a:srgbClr>
          </a:solidFill>
          <a:ln w="12700">
            <a:solidFill>
              <a:srgbClr val="1A73E8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PW Skills | Google Ads Campaign Project  •  Search Campaign + Display Campaign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2B4A">
              <a:alpha val="70000"/>
            </a:srgbClr>
          </a:solidFill>
          <a:ln w="12700">
            <a:solidFill>
              <a:srgbClr val="1C2B4A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500" kern="0" dirty="0">
                <a:solidFill>
                  <a:srgbClr val="FBBC04"/>
                </a:solidFill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Campaign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657600" cy="0"/>
          </a:xfrm>
          <a:prstGeom prst="line">
            <a:avLst/>
          </a:prstGeom>
          <a:noFill/>
          <a:ln w="38100">
            <a:solidFill>
              <a:srgbClr val="FBBC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2E3FC"/>
                </a:solidFill>
              </a:rPr>
              <a:t>Keyword Research  •  Campaign Summary  •  Ad Copy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201168" cy="20116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90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Keyword Research (25%)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201168" cy="20116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7413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Campaign Summary (10%)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201168" cy="20116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58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 Copy (10%)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SEARCH CAMPAIGN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Keyword Research — Match Types &amp;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3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🎯  Campaign Objective: Online Digital Marketing Course Enrollment  |  Business: PW Skills EdTech Platform  |  Industry: Online Education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233172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Keyword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508760"/>
            <a:ext cx="1554480" cy="347472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087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 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508760"/>
            <a:ext cx="914400" cy="34747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Avg. CPC (₹)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508760"/>
            <a:ext cx="105156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508760"/>
            <a:ext cx="260604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Justification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856232"/>
            <a:ext cx="8595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56232"/>
            <a:ext cx="2331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digital marketing course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1856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Exact Match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1856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₹45–80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185623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High Purchase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856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High-intent transactional; targets users ready to enroll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304288"/>
            <a:ext cx="8595360" cy="411480"/>
          </a:xfrm>
          <a:prstGeom prst="rect">
            <a:avLst/>
          </a:prstGeom>
          <a:solidFill>
            <a:srgbClr val="F1F5FD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online marketing classes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23042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Phrase Match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23042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₹30–60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230428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Commercial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042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Phrase match captures varied queries like 'affordable online marketing classes'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752344"/>
            <a:ext cx="8595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752344"/>
            <a:ext cx="2331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learn digital marketing online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27523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Broad Match (Modified)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51960" y="27523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₹20–50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2752344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Informational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75234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Reaches users in research phase; funnel entry keyword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200400"/>
            <a:ext cx="8595360" cy="411480"/>
          </a:xfrm>
          <a:prstGeom prst="rect">
            <a:avLst/>
          </a:prstGeom>
          <a:solidFill>
            <a:srgbClr val="F1F5FD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digital marketing certification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5176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Exact Match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5196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₹50–90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32004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High Purchase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Certificate seekers; high conversion — credibility driven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648456"/>
            <a:ext cx="8595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648456"/>
            <a:ext cx="2331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SEO course online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51760" y="36484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Phrase Match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51960" y="36484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₹25–55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3648456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Commercial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364845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Specific sub-topic; users with clear intent to learn SEO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4096512"/>
            <a:ext cx="8595360" cy="411480"/>
          </a:xfrm>
          <a:prstGeom prst="rect">
            <a:avLst/>
          </a:prstGeom>
          <a:solidFill>
            <a:srgbClr val="F1F5FD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096512"/>
            <a:ext cx="2331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social media marketing course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651760" y="40965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Phrase Match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51960" y="4096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58"/>
                </a:solidFill>
              </a:rPr>
              <a:t>₹35–65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12080" y="40965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Commercial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40965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Top searched sub-category; strong volume &amp; intent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PW Skills | Google Ads Search &amp; Display Campaign Project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SEARCH CAMPAIGN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Keyword Research — Extended Keywords &amp; Negative Keywords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4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029200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Additional Branded &amp; Long-tail Keywords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PPC course for beginners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CC1"/>
                </a:solidFill>
              </a:rPr>
              <a:t>Phrase Match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0" y="12801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58"/>
                </a:solidFill>
              </a:rPr>
              <a:t>₹20–45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280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Informational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682496"/>
            <a:ext cx="5029200" cy="365760"/>
          </a:xfrm>
          <a:prstGeom prst="rect">
            <a:avLst/>
          </a:prstGeom>
          <a:solidFill>
            <a:srgbClr val="F1F5FD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824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best digital marketing institute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14600" y="16824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9D58"/>
                </a:solidFill>
              </a:rPr>
              <a:t>Exact Match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0" y="168249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58"/>
                </a:solidFill>
              </a:rPr>
              <a:t>₹60–100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68249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High Purchase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084832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084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Google Ads training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2084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CC1"/>
                </a:solidFill>
              </a:rPr>
              <a:t>Phrase Match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0" y="20848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58"/>
                </a:solidFill>
              </a:rPr>
              <a:t>₹40–75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20848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Commercial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487168"/>
            <a:ext cx="5029200" cy="365760"/>
          </a:xfrm>
          <a:prstGeom prst="rect">
            <a:avLst/>
          </a:prstGeom>
          <a:solidFill>
            <a:srgbClr val="F1F5FD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871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content marketing course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1460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CC1"/>
                </a:solidFill>
              </a:rPr>
              <a:t>Phrase Match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0" y="24871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58"/>
                </a:solidFill>
              </a:rPr>
              <a:t>₹25–50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2487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Commercial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889504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89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email marketing course online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28895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4335"/>
                </a:solidFill>
              </a:rPr>
              <a:t>Broad Modified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0" y="28895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58"/>
                </a:solidFill>
              </a:rPr>
              <a:t>₹18–40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28895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Informational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5029200" cy="365760"/>
          </a:xfrm>
          <a:prstGeom prst="rect">
            <a:avLst/>
          </a:prstGeom>
          <a:solidFill>
            <a:srgbClr val="F1F5FD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digital marketing bootcamp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1460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9D58"/>
                </a:solidFill>
              </a:rPr>
              <a:t>Exact Match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0" y="3291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58"/>
                </a:solidFill>
              </a:rPr>
              <a:t>₹55–95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3291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High Purchase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694176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6941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data analytics course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14600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CC1"/>
                </a:solidFill>
              </a:rPr>
              <a:t>Phrase Match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40480" y="36941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58"/>
                </a:solidFill>
              </a:rPr>
              <a:t>₹35–70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36941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Commercial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0" y="914400"/>
            <a:ext cx="3383280" cy="3657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Negative Keywords (Budget Protection)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0" y="1280160"/>
            <a:ext cx="3383280" cy="365760"/>
          </a:xfrm>
          <a:prstGeom prst="rect">
            <a:avLst/>
          </a:prstGeom>
          <a:solidFill>
            <a:srgbClr val="FFF8F8"/>
          </a:solidFill>
          <a:ln w="3810">
            <a:solidFill>
              <a:srgbClr val="FFCD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1280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1280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</a:rPr>
              <a:t>free digital marketing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87768" y="1280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</a:rPr>
              <a:t>Avoids freebie seekers, not likely to convert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6400" y="1682496"/>
            <a:ext cx="3383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FCD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1682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06440" y="16824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</a:rPr>
              <a:t>digital marketing jobs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87768" y="168249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</a:rPr>
              <a:t>Prevents job-seeker traffic — wrong audience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86400" y="2084832"/>
            <a:ext cx="3383280" cy="365760"/>
          </a:xfrm>
          <a:prstGeom prst="rect">
            <a:avLst/>
          </a:prstGeom>
          <a:solidFill>
            <a:srgbClr val="FFF8F8"/>
          </a:solidFill>
          <a:ln w="3810">
            <a:solidFill>
              <a:srgbClr val="FFCD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3212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✕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06440" y="20848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</a:rPr>
              <a:t>digital marketing salary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87768" y="20848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</a:rPr>
              <a:t>Informational query, no purchase intent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486400" y="2487168"/>
            <a:ext cx="3383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FCDD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32120" y="24871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✕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806440" y="2487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</a:rPr>
              <a:t>marketing course torrent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287768" y="24871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</a:rPr>
              <a:t>Piracy-related, irrelevant audience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486400" y="2889504"/>
            <a:ext cx="3383280" cy="365760"/>
          </a:xfrm>
          <a:prstGeom prst="rect">
            <a:avLst/>
          </a:prstGeom>
          <a:solidFill>
            <a:srgbClr val="FFF8F8"/>
          </a:solidFill>
          <a:ln w="3810">
            <a:solidFill>
              <a:srgbClr val="FFCDD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32120" y="2889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✕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06440" y="28895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</a:rPr>
              <a:t>digital marketing pdf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87768" y="2889504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</a:rPr>
              <a:t>Looking for free resources, not paid courses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486400" y="3291840"/>
            <a:ext cx="3383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FCDD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3212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✕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80644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</a:rPr>
              <a:t>YouTube digital marketing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87768" y="3291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</a:rPr>
              <a:t>Organic content seekers, no enrollment intent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486400" y="3694176"/>
            <a:ext cx="3383280" cy="365760"/>
          </a:xfrm>
          <a:prstGeom prst="rect">
            <a:avLst/>
          </a:prstGeom>
          <a:solidFill>
            <a:srgbClr val="FFF8F8"/>
          </a:solidFill>
          <a:ln w="3810">
            <a:solidFill>
              <a:srgbClr val="FFCDD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32120" y="36941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✕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806440" y="36941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</a:rPr>
              <a:t>digital marketing meaning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87768" y="369417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</a:rPr>
              <a:t>Too generic / educational only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4617720"/>
            <a:ext cx="8595360" cy="292608"/>
          </a:xfrm>
          <a:prstGeom prst="rect">
            <a:avLst/>
          </a:prstGeom>
          <a:solidFill>
            <a:srgbClr val="EAF1FB"/>
          </a:solidFill>
          <a:ln w="3810">
            <a:solidFill>
              <a:srgbClr val="1A73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4617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B4A"/>
                </a:solidFill>
              </a:rPr>
              <a:t>MATCH TYPE LEGEND: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737360" y="4617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9D58"/>
                </a:solidFill>
              </a:rPr>
              <a:t>[keyword] = Exact Match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749040" y="4617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CC1"/>
                </a:solidFill>
              </a:rPr>
              <a:t>"keyword" = Phrase Match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943600" y="4617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4335"/>
                </a:solidFill>
              </a:rPr>
              <a:t>+keyword = Broad Modified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PW Skills | Google Ads Search &amp; Display Campaign Project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SEARCH CAMPAIGN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Campaign Summary — Setup &amp; Configuration Screenshot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5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Campaign Configuration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Campaign Name: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28016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PW_Skills_Search_DM_Course_2024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4114800" cy="393192"/>
          </a:xfrm>
          <a:prstGeom prst="rect">
            <a:avLst/>
          </a:prstGeom>
          <a:solidFill>
            <a:srgbClr val="E8F0F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09928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Campaign Type: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170992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Search Campaign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39696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Campaign Goal: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213969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Website Traffic + Conversions (Leads)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69464"/>
            <a:ext cx="4114800" cy="393192"/>
          </a:xfrm>
          <a:prstGeom prst="rect">
            <a:avLst/>
          </a:prstGeom>
          <a:solidFill>
            <a:srgbClr val="E8F0F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69464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Networks: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569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Google Search Network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9232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Bidding Strategy: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0" y="299923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Maximize Conversions (Smart Bidding)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114800" cy="393192"/>
          </a:xfrm>
          <a:prstGeom prst="rect">
            <a:avLst/>
          </a:prstGeom>
          <a:solidFill>
            <a:srgbClr val="E8F0F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2900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Target CPA: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34290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₹500 per lead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858768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58768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Daily Budget: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03120" y="385876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₹1,000/day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88536"/>
            <a:ext cx="4114800" cy="393192"/>
          </a:xfrm>
          <a:prstGeom prst="rect">
            <a:avLst/>
          </a:prstGeom>
          <a:solidFill>
            <a:srgbClr val="E8F0F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88536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Monthly Budget: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03120" y="428853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₹30,000/month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Targeting &amp; Delivery Settings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1280160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28016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Location Targeting: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400" y="128016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India — Tier 1 &amp; Tier 2 Cities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709928"/>
            <a:ext cx="420624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70992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Language: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29400" y="1709928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English + Hindi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139696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13969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Ad Schedule: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29400" y="213969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Mon–Sun, 8 AM – 11 PM IST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569464"/>
            <a:ext cx="420624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569464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Device Targeting: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29400" y="2569464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All Devices (Mobile +20% bid adj.)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999232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999232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Ad Rotation: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29400" y="2999232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Optimize: Best Performing Ads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429000"/>
            <a:ext cx="420624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42900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Start Date: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29400" y="342900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1st of Current Month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3858768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85876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Conversion Action: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29400" y="3858768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Form Submission / Demo Request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288536"/>
            <a:ext cx="420624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428853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Conversion Window: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29400" y="428853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30 Days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" y="4965192"/>
            <a:ext cx="8961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BC04"/>
                </a:solidFill>
              </a:rPr>
              <a:t>📸  Screenshot Note: Attach Google Ads campaign summary screenshot showing Campaign Name, Budget, Bidding Strategy, and Status = Active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SEARCH CAMPAIGN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 Copy — Responsive Search Ad Preview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6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005840"/>
            <a:ext cx="320040" cy="182880"/>
          </a:xfrm>
          <a:prstGeom prst="rect">
            <a:avLst/>
          </a:prstGeom>
          <a:solidFill>
            <a:srgbClr val="006621"/>
          </a:solidFill>
          <a:ln w="12700">
            <a:solidFill>
              <a:srgbClr val="0066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9875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621"/>
                </a:solidFill>
              </a:rPr>
              <a:t>www.pwskills.com › digital-marketing-course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58D6"/>
                </a:solidFill>
              </a:rPr>
              <a:t>Best Digital Marketing Course Online | PW Skills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57276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5454"/>
                </a:solidFill>
              </a:rPr>
              <a:t>Enroll in India's #1 Digital Marketing Course — </a:t>
            </a:r>
            <a:pPr indent="0" marL="0">
              <a:buNone/>
            </a:pPr>
            <a:r>
              <a:rPr lang="en-US" sz="1050" b="1" dirty="0">
                <a:solidFill>
                  <a:srgbClr val="545454"/>
                </a:solidFill>
              </a:rPr>
              <a:t>Learn SEO, PPC, Social Media &amp; Analytics</a:t>
            </a:r>
            <a:pPr indent="0" marL="0">
              <a:buNone/>
            </a:pPr>
            <a:r>
              <a:rPr lang="en-US" sz="1050" dirty="0">
                <a:solidFill>
                  <a:srgbClr val="545454"/>
                </a:solidFill>
              </a:rPr>
              <a:t> with Live Projects. Get Industry-Recognized Certificate. 100% Job Assistance. Batch Starting Soon — </a:t>
            </a:r>
            <a:pPr indent="0" marL="0">
              <a:buNone/>
            </a:pPr>
            <a:r>
              <a:rPr lang="en-US" sz="1050" b="1" dirty="0">
                <a:solidFill>
                  <a:srgbClr val="EA4335"/>
                </a:solidFill>
              </a:rPr>
              <a:t>Limited Seats!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423160"/>
            <a:ext cx="466344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368"/>
                </a:solidFill>
              </a:rPr>
              <a:t>Sitelink Extensions: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679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58D6"/>
                </a:solidFill>
              </a:rPr>
              <a:t>SEO Course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2679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58D6"/>
                </a:solidFill>
              </a:rPr>
              <a:t>PPC Training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71800" y="2679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58D6"/>
                </a:solidFill>
              </a:rPr>
              <a:t>Social Media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60520" y="2679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58D6"/>
                </a:solidFill>
              </a:rPr>
              <a:t>Free Demo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368"/>
                </a:solidFill>
              </a:rPr>
              <a:t>Callout Extensions: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1272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✓ Live Classes  ✓ Expert Mentors  ✓ Placement Support  ✓ EMI Available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364992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368"/>
                </a:solidFill>
              </a:rPr>
              <a:t>Phone Extension: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📞 1800-XXX-XXXX (Free Counseling)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9D58"/>
                </a:solidFill>
              </a:rPr>
              <a:t>⭐ 4.8 Rating  |  10,000+ Students Enrolled  |  Trusted Since 2021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0" y="914400"/>
            <a:ext cx="3200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914400"/>
            <a:ext cx="320040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 Components Breakdown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1325880"/>
            <a:ext cx="73152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3258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Headlines (15 max)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52160" y="15819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3 Pinned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Pin H1: Brand + Keyword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Pin H2: USP (Certification)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Pin H3: CTA (Enroll Now)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15000" y="2212848"/>
            <a:ext cx="73152" cy="77724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212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Descriptions (4 max)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5216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2 Active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D1: Course benefits + outcomes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D2: Urgency + social proof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15000" y="3099816"/>
            <a:ext cx="73152" cy="77724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099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Ad Strength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33558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EXCELLENT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All 15 headlines filled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Keyword insertion used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3 unique CTAs included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3986784"/>
            <a:ext cx="73152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39867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CC1"/>
                </a:solidFill>
              </a:rPr>
              <a:t>Extensions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424281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Sitelinks (4)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Callouts (4)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Phone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Structured Snippets ✓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" y="4965192"/>
            <a:ext cx="8961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BC04"/>
                </a:solidFill>
              </a:rPr>
              <a:t>📸  Screenshot Note: Attach Google Ads RSA editor screenshot showing all headlines, descriptions, ad strength indicator, and preview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9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2B4A">
              <a:alpha val="70000"/>
            </a:srgbClr>
          </a:solidFill>
          <a:ln w="12700">
            <a:solidFill>
              <a:srgbClr val="1C2B4A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500" kern="0" dirty="0">
                <a:solidFill>
                  <a:srgbClr val="FBBC04"/>
                </a:solidFill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Campaign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657600" cy="0"/>
          </a:xfrm>
          <a:prstGeom prst="line">
            <a:avLst/>
          </a:prstGeom>
          <a:noFill/>
          <a:ln w="38100">
            <a:solidFill>
              <a:srgbClr val="FBBC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2E3FC"/>
                </a:solidFill>
              </a:rPr>
              <a:t>Campaign Summary  •  Ad Creative  •  Conceptual Questions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201168" cy="20116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90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Display Campaign Summary (10%)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201168" cy="20116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7413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 Copy / Creative Assets (15%)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201168" cy="20116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58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Conceptual Questions (20%)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DISPLAY CAMPAIGN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Campaign Summary — Setup &amp; Configuration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8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Display Campaign Configuration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Campaign Name: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28016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PW_Skills_Display_DM_Awareness_2024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411480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09928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Campaign Type: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170992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Display Campaign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39696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Campaign Goal: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213969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Brand Awareness &amp; Reach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69464"/>
            <a:ext cx="411480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69464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Subtype: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569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Standard Display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9232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Bidding Strategy: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0" y="299923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Target CPM (Cost Per Thousand Impressions)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11480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2900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Target CPM: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34290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₹80 per 1,000 impressions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58768"/>
            <a:ext cx="4114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58768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Daily Budget: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03120" y="385876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₹800/day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288536"/>
            <a:ext cx="4114800" cy="393192"/>
          </a:xfrm>
          <a:prstGeom prst="rect">
            <a:avLst/>
          </a:prstGeom>
          <a:solidFill>
            <a:srgbClr val="F0FF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88536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Networks: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03120" y="428853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Google Display Network (GDN)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Audience &amp; Targeting Settings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1280160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28016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Location: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400" y="128016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India — All States (Major Cities Prioritized)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709928"/>
            <a:ext cx="4206240" cy="393192"/>
          </a:xfrm>
          <a:prstGeom prst="rect">
            <a:avLst/>
          </a:prstGeom>
          <a:solidFill>
            <a:srgbClr val="E0F7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70992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Audience Targeting: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29400" y="1709928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In-Market: Online Education Seekers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139696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13969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Custom Audiences: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29400" y="213969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Website Visitors + YouTube Viewers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569464"/>
            <a:ext cx="4206240" cy="393192"/>
          </a:xfrm>
          <a:prstGeom prst="rect">
            <a:avLst/>
          </a:prstGeom>
          <a:solidFill>
            <a:srgbClr val="E0F7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569464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Contextual Targeting: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29400" y="2569464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Education, Technology, Career websites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999232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999232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Demographics: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29400" y="2999232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Age 18–35, All Genders, Any HH Income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3429000"/>
            <a:ext cx="4206240" cy="393192"/>
          </a:xfrm>
          <a:prstGeom prst="rect">
            <a:avLst/>
          </a:prstGeom>
          <a:solidFill>
            <a:srgbClr val="E0F7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42900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Frequency Capping: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29400" y="342900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3 Impressions / User / Day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3858768"/>
            <a:ext cx="42062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85876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Ad Format: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29400" y="3858768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Responsive Display Ads (RDA)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4288536"/>
            <a:ext cx="4206240" cy="393192"/>
          </a:xfrm>
          <a:prstGeom prst="rect">
            <a:avLst/>
          </a:prstGeom>
          <a:solidFill>
            <a:srgbClr val="E0F7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428853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368"/>
                </a:solidFill>
              </a:rPr>
              <a:t>Exclusions: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29400" y="428853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Adult content, Gambling, Politics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" y="4965192"/>
            <a:ext cx="8961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BC04"/>
                </a:solidFill>
              </a:rPr>
              <a:t>📸  Screenshot Note: Attach Google Ads Display campaign summary screenshot showing Campaign Name, Budget, Bidding, Networks, and Status = Active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DISPLAY CAMPAIGN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 Copy — Responsive Display Ad (RDA) Creative Assets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9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34747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3474720" cy="1828800"/>
          </a:xfrm>
          <a:prstGeom prst="rect">
            <a:avLst/>
          </a:prstGeom>
          <a:solidFill>
            <a:srgbClr val="1A73E8">
              <a:alpha val="9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PW SKILLS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C04"/>
                </a:solidFill>
              </a:rPr>
              <a:t>Digital Marketing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2E3FC"/>
                </a:solidFill>
              </a:rPr>
              <a:t>Course 2024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3474720" cy="109728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Master SEO, PPC, Social Media &amp; Data Analytics with Live Projects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✓ Certificate  ✓ Placement  ✓ Live Classes  ✓ Expert Faculty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2468880" cy="4114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37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Enroll Now — Free Demo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7947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www.pwskills.com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0" y="914400"/>
            <a:ext cx="4846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914400"/>
            <a:ext cx="4846320" cy="347472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914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RDA Creative Assets Specification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69080" y="1325880"/>
            <a:ext cx="1371600" cy="219456"/>
          </a:xfrm>
          <a:prstGeom prst="rect">
            <a:avLst/>
          </a:prstGeom>
          <a:solidFill>
            <a:srgbClr val="1A73E8">
              <a:alpha val="8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1325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3E8"/>
                </a:solidFill>
              </a:rPr>
              <a:t>HEADLINES (5 max)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0" y="1563624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H1: Best Digital Marketing Course 2024 (30 chars)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0" y="1801368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H2: Learn from Industry Experts Online (38 chars)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0" y="2039112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H3: Enroll &amp; Get Certified — PW Skills (38 chars)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0" y="227685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H4: SEO | PPC | Social Media | Analytics (40 chars)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251460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H5: 10,000+ Students Trust PW Skills (36 chars)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69080" y="2798064"/>
            <a:ext cx="1371600" cy="219456"/>
          </a:xfrm>
          <a:prstGeom prst="rect">
            <a:avLst/>
          </a:prstGeom>
          <a:solidFill>
            <a:srgbClr val="0F9D58">
              <a:alpha val="80000"/>
            </a:srgbClr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27980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9D58"/>
                </a:solidFill>
              </a:rPr>
              <a:t>DESCRIPTIONS (5 max)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114800" y="3035808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D1: Master digital marketing with live projects, expert mentors...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0" y="3273552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D2: India's top-rated course with 100% job assistance &amp; EMI...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069080" y="3557016"/>
            <a:ext cx="1371600" cy="219456"/>
          </a:xfrm>
          <a:prstGeom prst="rect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35570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CC1"/>
                </a:solidFill>
              </a:rPr>
              <a:t>IMAGES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114800" y="379476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Landscape (1.91:1) — 1200×628px: Course banner with instructor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0" y="4032504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Square (1:1) — 1200×1200px: Course logo / certificate mockup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0" y="4270248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Portrait (4:5) — 960×1200px: Student success testimonial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69080" y="4553712"/>
            <a:ext cx="1371600" cy="219456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69080" y="4553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4335"/>
                </a:solidFill>
              </a:rPr>
              <a:t>LOGOS &amp; CTA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114800" y="479145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Logo: PW Skills official logo — 1200×1200px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0" y="502920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CTA Button: 'Enroll Now' / 'Get Free Demo' / 'Learn More'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0" y="5266944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• Business Name: PW Skills | Display URL: pwskills.com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" y="4965192"/>
            <a:ext cx="8961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BC04"/>
                </a:solidFill>
              </a:rPr>
              <a:t>📸  Screenshot Note: Attach Google Ads RDA editor screenshot showing all headlines, descriptions, images, logo, CTA, and ad strength = EXCELLENT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CONCEPTUAL QUESTIONS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Q1 &amp; Q2 — Answered Completely (20% Weightage)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10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Q1: What is the difference between Search Campaign and Display Campaign, and when should each be used?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595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SEARCH CAMPAIGN: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Search campaigns show text ads on Google's SERP when users actively search for specific keywords. These are pull-marketing — the user initiates intent. Search ads appear when someone types queries matching your keywords, making them highly effective for bottom-funnel, high-intent users ready to take action.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✓ Best for: Lead generation, direct conversions, transactional queries like 'buy digital marketing course'.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26280" y="1371600"/>
            <a:ext cx="0" cy="1371600"/>
          </a:xfrm>
          <a:prstGeom prst="line">
            <a:avLst/>
          </a:prstGeom>
          <a:noFill/>
          <a:ln w="1016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DISPLAY CAMPAIGN: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Display campaigns show visual banner/image ads across millions of websites in the Google Display Network (GDN). These are push-marketing — ads appear proactively based on audience targeting. Display is ideal for brand awareness, retargeting past visitors, and reaching users before they search.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✓ Best for: Brand building, remarketing, nurturing cold audiences, announcing new courses.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944368"/>
            <a:ext cx="8595360" cy="41148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44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Q2: What is Remarketing in Google Ads and how would you set it up for a Digital Marketing Course?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55848"/>
            <a:ext cx="8595360" cy="1490472"/>
          </a:xfrm>
          <a:prstGeom prst="rect">
            <a:avLst/>
          </a:prstGeom>
          <a:solidFill>
            <a:srgbClr val="FFFFFF"/>
          </a:solidFill>
          <a:ln w="6350">
            <a:solidFill>
              <a:srgbClr val="0F9D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01568"/>
            <a:ext cx="8412480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REMARKETING DEFINITION: Remarketing (or retargeting) is a Google Ads strategy that shows targeted ads to users who have previously visited your website or interacted with your app, without completing a desired action (like enrollment). It reconnects with warm audiences who already know your brand.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SETUP STEPS FOR PW SKILLS DIGITAL MARKETING COURSE: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1. GOOGLE TAG / GA4: Install Google Tag (gtag.js) on pwskills.com to fire a remarketing pixel on all pages. Enable 'Remarketing' collection in the linked Google Ads account.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2. CREATE AUDIENCE LISTS: In Google Ads → Audience Manager, create: (a) 'All Website Visitors' — 30-day window, (b) 'Course Page Visitors' — visitors to /digital-marketing-course, (c) 'Cart Abandoners' — visited payment page but did not convert, (d) 'YouTube Video Viewers' — watched course promo video.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3. CREATE REMARKETING CAMPAIGN: New Display Campaign → Audience Segments → select created remarketing lists → Set Observation or Targeting mode → Use Dynamic Remarketing to show specific courses visited.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4. AD CREATIVE: Design banners highlighting the specific course viewed, include urgency (Limited Seats), social proof (10,000+ enrolled), and clear CTA (Enroll Now — Save 20%).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5. BIDDING &amp; FREQUENCY: Use Target CPA bidding; set frequency cap (3 impressions/day/user) to avoid ad fatigue.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PW Skills | Google Ads Search &amp; Display Campaign Project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C04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Campaign Overview, Budget, Results &amp; Optimization Strategy (10%)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11 of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EAF1FB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CAMPAIGN STRUCTURE:  2 Campaigns → 3 Ad Groups each → 25 Keywords (Search) + 4 Audience Segments (Display) → Responsive Ads → Conversion Tracking via GA4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160020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25880"/>
            <a:ext cx="1600200" cy="182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25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Total Monthly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Budget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" y="15087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</a:rPr>
              <a:t>₹1,800/day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</a:rPr>
              <a:t>₹54,000/mo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1325880"/>
            <a:ext cx="160020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F9D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325880"/>
            <a:ext cx="1600200" cy="18288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325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Search: 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CPA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11680" y="15087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58"/>
                </a:solidFill>
              </a:rPr>
              <a:t>₹500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9D58"/>
                </a:solidFill>
              </a:rPr>
              <a:t>per Lead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325880"/>
            <a:ext cx="160020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325880"/>
            <a:ext cx="1600200" cy="1828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325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Display: 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CPM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49040" y="15087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CC1"/>
                </a:solidFill>
              </a:rPr>
              <a:t>₹80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CC1"/>
                </a:solidFill>
              </a:rPr>
              <a:t>per 1,000 Imp.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1325880"/>
            <a:ext cx="160020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325880"/>
            <a:ext cx="1600200" cy="18288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325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Expected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Conversions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0" y="15087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60–90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Leads/Month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1325880"/>
            <a:ext cx="160020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325880"/>
            <a:ext cx="1600200" cy="1828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325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Expected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Impressions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223760" y="15087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500K+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Display/Month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2313432"/>
            <a:ext cx="4114800" cy="3200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313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Campaign Optimization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2761488"/>
            <a:ext cx="146304" cy="14630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26700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Weekly Search Term Report: Add new converting keywords; add irrelevant queries as negatives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099816"/>
            <a:ext cx="146304" cy="14630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00837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A/B Test ad headlines: Compare benefit-driven vs urgency-driven messages every 2 weeks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438144"/>
            <a:ext cx="146304" cy="14630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34670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Quality Score monitoring: Improve landing page relevance + CTR to reduce CPC over time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776472"/>
            <a:ext cx="146304" cy="14630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685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Bid adjustments: Increase bids by +20% on mobile; reduce by -15% for age 50+ segment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114800"/>
            <a:ext cx="146304" cy="14630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0233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Ad scheduling: Pause ads 12 AM–6 AM to conserve budget; increase bids on peak hours (6–10 PM)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313432"/>
            <a:ext cx="4206240" cy="32004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Display Campaign Optimization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2761488"/>
            <a:ext cx="146304" cy="146304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6700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Placement exclusions: Review 'Where Ads Showed' report; exclude low-quality/irrelevant sites weekly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3099816"/>
            <a:ext cx="146304" cy="146304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0083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Creative refresh: Replace underperforming image/headline combinations every 30 days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3438144"/>
            <a:ext cx="146304" cy="146304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3467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Audience expansion: After 30 days, test 'Similar Audiences' to scale reach beyond remarketing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3776472"/>
            <a:ext cx="146304" cy="146304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36850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Frequency cap adjustment: If CTR drops below 0.2%, reduce from 3 to 2 impressions/day/user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4114800"/>
            <a:ext cx="146304" cy="146304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40233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Smart bidding transition: After 50+ conversions, switch from Target CPM to Target CPA for display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PW Skills | Google Ads Search &amp; Display Campaign Project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Submission 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0" y="868680"/>
            <a:ext cx="4572000" cy="0"/>
          </a:xfrm>
          <a:prstGeom prst="line">
            <a:avLst/>
          </a:prstGeom>
          <a:noFill/>
          <a:ln w="25400">
            <a:solidFill>
              <a:srgbClr val="FBBC0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05840"/>
            <a:ext cx="457200" cy="457200"/>
          </a:xfrm>
          <a:prstGeom prst="rect">
            <a:avLst/>
          </a:prstGeom>
          <a:solidFill>
            <a:srgbClr val="1A73E8">
              <a:alpha val="8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3E8"/>
                </a:solidFill>
              </a:rPr>
              <a:t>Search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724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Keyword Research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005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25%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Complete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536192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536192"/>
            <a:ext cx="457200" cy="457200"/>
          </a:xfrm>
          <a:prstGeom prst="rect">
            <a:avLst/>
          </a:prstGeom>
          <a:solidFill>
            <a:srgbClr val="1A73E8">
              <a:alpha val="8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3E8"/>
                </a:solidFill>
              </a:rPr>
              <a:t>Search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7240" y="1536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Campaign Summary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53619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10%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Complete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066544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066544"/>
            <a:ext cx="457200" cy="457200"/>
          </a:xfrm>
          <a:prstGeom prst="rect">
            <a:avLst/>
          </a:prstGeom>
          <a:solidFill>
            <a:srgbClr val="1A73E8">
              <a:alpha val="8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3E8"/>
                </a:solidFill>
              </a:rPr>
              <a:t>Search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77240" y="20665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 Copy (RSA)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06654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20665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Complete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596896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596896"/>
            <a:ext cx="457200" cy="457200"/>
          </a:xfrm>
          <a:prstGeom prst="rect">
            <a:avLst/>
          </a:prstGeom>
          <a:solidFill>
            <a:srgbClr val="0F9D58">
              <a:alpha val="80000"/>
            </a:srgbClr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9D58"/>
                </a:solidFill>
              </a:rPr>
              <a:t>Display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77240" y="25968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Campaign 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59689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D58"/>
                </a:solidFill>
              </a:rPr>
              <a:t>10%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2596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Complete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1005840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1005840"/>
            <a:ext cx="457200" cy="457200"/>
          </a:xfrm>
          <a:prstGeom prst="rect">
            <a:avLst/>
          </a:prstGeom>
          <a:solidFill>
            <a:srgbClr val="0F9D58">
              <a:alpha val="80000"/>
            </a:srgbClr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9D58"/>
                </a:solidFill>
              </a:rPr>
              <a:t>Display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4068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 Copy (RDA)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01000" y="1005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D58"/>
                </a:solidFill>
              </a:rPr>
              <a:t>15%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Complete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1536192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1536192"/>
            <a:ext cx="457200" cy="457200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4335"/>
                </a:solidFill>
              </a:rPr>
              <a:t>Both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440680" y="1536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Conceptual Questions (Q1 &amp; Q2)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01000" y="153619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4335"/>
                </a:solidFill>
              </a:rPr>
              <a:t>20%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95360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Complete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37760" y="2066544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37760" y="2066544"/>
            <a:ext cx="457200" cy="457200"/>
          </a:xfrm>
          <a:prstGeom prst="rect">
            <a:avLst/>
          </a:prstGeom>
          <a:solidFill>
            <a:srgbClr val="FBBC04">
              <a:alpha val="80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C04"/>
                </a:solidFill>
              </a:rPr>
              <a:t>Both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440680" y="20665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Summary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01000" y="206654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C04"/>
                </a:solidFill>
              </a:rPr>
              <a:t>10%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95360" y="20665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Complete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37760" y="2596896"/>
            <a:ext cx="41148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760" y="2596896"/>
            <a:ext cx="457200" cy="457200"/>
          </a:xfrm>
          <a:prstGeom prst="rect">
            <a:avLst/>
          </a:prstGeom>
          <a:solidFill>
            <a:srgbClr val="FBBC04">
              <a:alpha val="80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C04"/>
                </a:solidFill>
              </a:rPr>
              <a:t>Both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440680" y="25968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Summary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001000" y="259689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C04"/>
                </a:solidFill>
              </a:rPr>
              <a:t>10%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595360" y="2596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58"/>
                </a:solidFill>
              </a:rPr>
              <a:t>✓ Done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3154680"/>
            <a:ext cx="8595360" cy="41148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1546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TOTAL WEIGHTAGE: 100%  |  All criteria addressed  |  Screenshots required per slide notes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C04"/>
                </a:solidFill>
              </a:rPr>
              <a:t>Key Takeaway: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This project demonstrates a complete Google Ads strategy for PW Skills — combining high-intent Search campaigns targeting course enrollments with brand-building Display campaigns for awareness, backed by smart bidding, audience targeting, remarketing, and continuous data-driven optimization.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73E8">
              <a:alpha val="60000"/>
            </a:srgbClr>
          </a:solidFill>
          <a:ln w="12700">
            <a:solidFill>
              <a:srgbClr val="1A73E8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PW Skills  |  Google Ads Search &amp; Display Campaign Project  |  Submitted by: Digital Marketing Specialist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Search &amp; Display Campaign Project</dc:title>
  <dc:subject>PptxGenJS Presentation</dc:subject>
  <dc:creator>Digital Marketing Specialist</dc:creator>
  <cp:lastModifiedBy>Digital Marketing Specialist</cp:lastModifiedBy>
  <cp:revision>1</cp:revision>
  <dcterms:created xsi:type="dcterms:W3CDTF">2026-02-18T17:23:19Z</dcterms:created>
  <dcterms:modified xsi:type="dcterms:W3CDTF">2026-02-18T17:23:19Z</dcterms:modified>
</cp:coreProperties>
</file>